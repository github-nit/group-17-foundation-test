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94360"/>
            <a:ext cx="91440" cy="5440680"/>
          </a:xfrm>
          <a:prstGeom prst="rect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13232"/>
            <a:ext cx="1024128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8FAFC"/>
                </a:solidFill>
                <a:latin typeface="Aptos Display"/>
              </a:rPr>
              <a:t>Foundation AI-Driven Cloud &amp; DevSecOps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481328"/>
            <a:ext cx="98755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A696"/>
                </a:solidFill>
                <a:latin typeface="Aptos"/>
              </a:rPr>
              <a:t>Inventory Management System — Acme Retail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5029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9B8CA"/>
                </a:solidFill>
                <a:latin typeface="Aptos"/>
              </a:rPr>
              <a:t>Group 17  |  Foundation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34640"/>
            <a:ext cx="585216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9EFF6"/>
                </a:solidFill>
                <a:latin typeface="Aptos"/>
              </a:rPr>
              <a:t>A production-inspired modernization of one application using AI engineering, CI/CD, security automation, Docker, and Terraform.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4572000"/>
            <a:ext cx="566928" cy="566928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148072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FastAPI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4752" y="4828032"/>
            <a:ext cx="1170432" cy="0"/>
          </a:xfrm>
          <a:prstGeom prst="line">
            <a:avLst/>
          </a:prstGeom>
          <a:ln w="2286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89504" y="4572000"/>
            <a:ext cx="566928" cy="56692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5148072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Pytest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38144" y="4828032"/>
            <a:ext cx="1170432" cy="0"/>
          </a:xfrm>
          <a:prstGeom prst="line">
            <a:avLst/>
          </a:prstGeom>
          <a:ln w="2286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82896" y="4572000"/>
            <a:ext cx="566928" cy="566928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5148072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Gitleaks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31536" y="4828032"/>
            <a:ext cx="1170432" cy="0"/>
          </a:xfrm>
          <a:prstGeom prst="line">
            <a:avLst/>
          </a:prstGeom>
          <a:ln w="2286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76288" y="4572000"/>
            <a:ext cx="566928" cy="566928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5148072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Docker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24928" y="4828032"/>
            <a:ext cx="1170432" cy="0"/>
          </a:xfrm>
          <a:prstGeom prst="line">
            <a:avLst/>
          </a:prstGeom>
          <a:ln w="2286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869680" y="4572000"/>
            <a:ext cx="566928" cy="566928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5148072"/>
            <a:ext cx="1234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Terraform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623560"/>
            <a:ext cx="2834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9B8CA"/>
                </a:solidFill>
                <a:latin typeface="Aptos"/>
              </a:rPr>
              <a:t>Secure • Automated • Reproducible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1. Business Problem &amp; Capstone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Why Acme Retail needs a DevSecOps modernization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257800" cy="443484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43484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600200"/>
            <a:ext cx="347472" cy="347472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 Display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63624"/>
            <a:ext cx="4434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Business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020824"/>
            <a:ext cx="4846320" cy="368503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Manual infrastructure provisioning and deployments
No Infrastructure as Code or standardized CI/CD
Weak automated security validation
Poor documentation and inconsistent engineering practices
No common AI engineering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440680" cy="443484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73152" cy="4434840"/>
          </a:xfrm>
          <a:prstGeom prst="rect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1928" y="1600200"/>
            <a:ext cx="347472" cy="347472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 Display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563624"/>
            <a:ext cx="4617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Mission &amp; target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020824"/>
            <a:ext cx="5029200" cy="3685031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Modernize the delivery lifecycle for a single IMS application
Introduce AI Engineering Specifications before implementation
Automate testing, security validation and infrastructure checks
Use Docker + Terraform for reproducible local validation
Deliver a secure, maintainable, production-inspired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2. Engineering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Specification first, then implementation, validation, and documentation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530352" cy="530352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39903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1764792"/>
            <a:ext cx="2834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Business problem &amp; scope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1417320"/>
            <a:ext cx="530352" cy="530352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784" y="139903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9784" y="1764792"/>
            <a:ext cx="2834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Six AI Engineering Specifications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8275320" y="1417320"/>
            <a:ext cx="530352" cy="530352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0264" y="139903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0264" y="1764792"/>
            <a:ext cx="2834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FastAPI application +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383280"/>
            <a:ext cx="530352" cy="530352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9304" y="336499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Secure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9304" y="3730752"/>
            <a:ext cx="2834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Gitleaks + Trivy + Checkov</a:t>
            </a:r>
          </a:p>
        </p:txBody>
      </p:sp>
      <p:sp>
        <p:nvSpPr>
          <p:cNvPr id="17" name="Oval 16"/>
          <p:cNvSpPr/>
          <p:nvPr/>
        </p:nvSpPr>
        <p:spPr>
          <a:xfrm>
            <a:off x="4434840" y="3383280"/>
            <a:ext cx="530352" cy="53035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336499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3730752"/>
            <a:ext cx="2834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Docker container + Terraform</a:t>
            </a:r>
          </a:p>
        </p:txBody>
      </p:sp>
      <p:sp>
        <p:nvSpPr>
          <p:cNvPr id="20" name="Oval 19"/>
          <p:cNvSpPr/>
          <p:nvPr/>
        </p:nvSpPr>
        <p:spPr>
          <a:xfrm>
            <a:off x="8275320" y="3383280"/>
            <a:ext cx="530352" cy="530352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3364992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3730752"/>
            <a:ext cx="283464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GitHub Actions + local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486400"/>
            <a:ext cx="10927080" cy="566928"/>
          </a:xfrm>
          <a:prstGeom prst="roundRect">
            <a:avLst/>
          </a:prstGeom>
          <a:solidFill>
            <a:srgbClr val="132C45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332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Aptos"/>
              </a:rPr>
              <a:t>Key principle: AI accelerates engineering work; every artifact is reviewed, tested, secured, and validated by the engineer.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3. Overall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Single FastAPI application with automated DevSecOps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554480" cy="1024128"/>
          </a:xfrm>
          <a:prstGeom prst="roundRect">
            <a:avLst/>
          </a:prstGeom>
          <a:solidFill>
            <a:srgbClr val="112A43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1" y="1581912"/>
            <a:ext cx="329184" cy="329184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13350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Developer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5688" y="1929384"/>
            <a:ext cx="256032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4872" y="1417320"/>
            <a:ext cx="1554480" cy="1024128"/>
          </a:xfrm>
          <a:prstGeom prst="roundRect">
            <a:avLst/>
          </a:prstGeom>
          <a:solidFill>
            <a:srgbClr val="112A43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35224" y="1581912"/>
            <a:ext cx="329184" cy="32918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965960"/>
            <a:ext cx="13350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GitHub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1929384"/>
            <a:ext cx="256033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06824" y="1417320"/>
            <a:ext cx="1554480" cy="1024128"/>
          </a:xfrm>
          <a:prstGeom prst="roundRect">
            <a:avLst/>
          </a:prstGeom>
          <a:solidFill>
            <a:srgbClr val="112A43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37176" y="1581912"/>
            <a:ext cx="329184" cy="329184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965960"/>
            <a:ext cx="13350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GitHub 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9592" y="1929384"/>
            <a:ext cx="256032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08776" y="1417320"/>
            <a:ext cx="1554480" cy="1024128"/>
          </a:xfrm>
          <a:prstGeom prst="roundRect">
            <a:avLst/>
          </a:prstGeom>
          <a:solidFill>
            <a:srgbClr val="112A43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39128" y="1581912"/>
            <a:ext cx="329184" cy="329184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965960"/>
            <a:ext cx="13350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Security Gates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81544" y="1929384"/>
            <a:ext cx="256031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0728" y="1417320"/>
            <a:ext cx="1554480" cy="1024128"/>
          </a:xfrm>
          <a:prstGeom prst="roundRect">
            <a:avLst/>
          </a:prstGeom>
          <a:solidFill>
            <a:srgbClr val="112A43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41080" y="1581912"/>
            <a:ext cx="329184" cy="329184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965960"/>
            <a:ext cx="13350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Docker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83496" y="1929384"/>
            <a:ext cx="256032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1417320"/>
            <a:ext cx="1554480" cy="1024128"/>
          </a:xfrm>
          <a:prstGeom prst="roundRect">
            <a:avLst/>
          </a:prstGeom>
          <a:solidFill>
            <a:srgbClr val="112A43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3032" y="1581912"/>
            <a:ext cx="329184" cy="329184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1965960"/>
            <a:ext cx="133502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Terraform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" y="2907792"/>
            <a:ext cx="10149840" cy="2377440"/>
          </a:xfrm>
          <a:prstGeom prst="roundRect">
            <a:avLst/>
          </a:prstGeom>
          <a:solidFill>
            <a:srgbClr val="0C363D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3108960"/>
            <a:ext cx="22402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8FAFC"/>
                </a:solidFill>
                <a:latin typeface="Aptos"/>
              </a:rPr>
              <a:t>FastAPI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456432"/>
            <a:ext cx="23317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9B8CA"/>
                </a:solidFill>
                <a:latin typeface="Aptos"/>
              </a:rPr>
              <a:t>Python • in-memory 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3182112"/>
            <a:ext cx="1874519" cy="566928"/>
          </a:xfrm>
          <a:prstGeom prst="roundRect">
            <a:avLst/>
          </a:prstGeom>
          <a:solidFill>
            <a:srgbClr val="124E52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3337560"/>
            <a:ext cx="1691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Product CRUD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3182112"/>
            <a:ext cx="1874519" cy="566928"/>
          </a:xfrm>
          <a:prstGeom prst="roundRect">
            <a:avLst/>
          </a:prstGeom>
          <a:solidFill>
            <a:srgbClr val="124E52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79" y="3337560"/>
            <a:ext cx="1691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3182112"/>
            <a:ext cx="1874519" cy="566928"/>
          </a:xfrm>
          <a:prstGeom prst="roundRect">
            <a:avLst/>
          </a:prstGeom>
          <a:solidFill>
            <a:srgbClr val="124E52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3337560"/>
            <a:ext cx="1691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Stock In / 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4023360"/>
            <a:ext cx="1874519" cy="566928"/>
          </a:xfrm>
          <a:prstGeom prst="roundRect">
            <a:avLst/>
          </a:prstGeom>
          <a:solidFill>
            <a:srgbClr val="124E52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39" y="4178808"/>
            <a:ext cx="1691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Low / Out of Stock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06440" y="4023360"/>
            <a:ext cx="1874519" cy="566928"/>
          </a:xfrm>
          <a:prstGeom prst="roundRect">
            <a:avLst/>
          </a:prstGeom>
          <a:solidFill>
            <a:srgbClr val="124E52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79" y="4178808"/>
            <a:ext cx="1691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79" y="4023360"/>
            <a:ext cx="1874519" cy="566928"/>
          </a:xfrm>
          <a:prstGeom prst="roundRect">
            <a:avLst/>
          </a:prstGeom>
          <a:solidFill>
            <a:srgbClr val="124E52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9" y="4178808"/>
            <a:ext cx="1691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Aptos"/>
              </a:rPr>
              <a:t>Health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46120" y="4114800"/>
            <a:ext cx="320040" cy="0"/>
          </a:xfrm>
          <a:prstGeom prst="line">
            <a:avLst/>
          </a:prstGeom>
          <a:ln w="2159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5650992"/>
            <a:ext cx="109728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A9B8CA"/>
                </a:solidFill>
                <a:latin typeface="Aptos"/>
              </a:rPr>
              <a:t>Cloud-ready design; current validation is local and reproducible without dedicated cloud resources.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4. Application &amp; API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FastAPI inventory management service exposed through REST-style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3931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8FAFC"/>
                </a:solidFill>
                <a:latin typeface="Aptos"/>
              </a:rPr>
              <a:t>Implemented capabilities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874519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4160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9EFF6"/>
                </a:solidFill>
                <a:latin typeface="Aptos"/>
              </a:rPr>
              <a:t>Create / retrieve / update / delete products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350008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22576"/>
            <a:ext cx="4160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9EFF6"/>
                </a:solidFill>
                <a:latin typeface="Aptos"/>
              </a:rPr>
              <a:t>Search by SKU, name or category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825496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98064"/>
            <a:ext cx="4160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9EFF6"/>
                </a:solidFill>
                <a:latin typeface="Aptos"/>
              </a:rPr>
              <a:t>Stock in and stock out operations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300984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273552"/>
            <a:ext cx="4160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9EFF6"/>
                </a:solidFill>
                <a:latin typeface="Aptos"/>
              </a:rPr>
              <a:t>Prevent negative inventory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776472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49039"/>
            <a:ext cx="4160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9EFF6"/>
                </a:solidFill>
                <a:latin typeface="Aptos"/>
              </a:rPr>
              <a:t>Low-stock and out-of-stock detection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251959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224527"/>
            <a:ext cx="41605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9EFF6"/>
                </a:solidFill>
                <a:latin typeface="Aptos"/>
              </a:rPr>
              <a:t>Product status + health check</a:t>
            </a:r>
          </a:p>
        </p:txBody>
      </p:sp>
      <p:pic>
        <p:nvPicPr>
          <p:cNvPr id="18" name="Picture 17" descr="30508b18-c23c-4f80-a29e-1c52c04b86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6720840" cy="4389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983480" y="5815584"/>
            <a:ext cx="6720840" cy="393192"/>
          </a:xfrm>
          <a:prstGeom prst="roundRect">
            <a:avLst/>
          </a:prstGeom>
          <a:solidFill>
            <a:srgbClr val="0F2C4B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5916168"/>
            <a:ext cx="6355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A9B8CA"/>
                </a:solidFill>
                <a:latin typeface="Aptos"/>
              </a:rPr>
              <a:t>Swagger UI verified locally at /docs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5. AI Engineering Specifications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The Capstone requires specification-driven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166360" cy="932688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8FAFC"/>
                </a:solidFill>
                <a:latin typeface="Aptos Display"/>
              </a:rPr>
              <a:t>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600200"/>
            <a:ext cx="41148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application-spec.md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938528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A9B8CA"/>
                </a:solidFill>
                <a:latin typeface="Aptos"/>
              </a:rPr>
              <a:t>Application requirements &amp;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66360" cy="932688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8FAFC"/>
                </a:solidFill>
                <a:latin typeface="Aptos Display"/>
              </a:rPr>
              <a:t>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600200"/>
            <a:ext cx="41148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infrastructure-spec.md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938528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A9B8CA"/>
                </a:solidFill>
                <a:latin typeface="Aptos"/>
              </a:rPr>
              <a:t>IaC approach &amp;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51760"/>
            <a:ext cx="5166360" cy="932688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880360"/>
            <a:ext cx="384048" cy="384048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8FAFC"/>
                </a:solidFill>
                <a:latin typeface="Aptos Display"/>
              </a:rPr>
              <a:t>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834640"/>
            <a:ext cx="41148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cicd-spec.md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172968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A9B8CA"/>
                </a:solidFill>
                <a:latin typeface="Aptos"/>
              </a:rPr>
              <a:t>CI workflow &amp;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5166360" cy="932688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880360"/>
            <a:ext cx="384048" cy="384048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8FAFC"/>
                </a:solidFill>
                <a:latin typeface="Aptos Display"/>
              </a:rPr>
              <a:t>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834640"/>
            <a:ext cx="41148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security-spec.md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3172968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A9B8CA"/>
                </a:solidFill>
                <a:latin typeface="Aptos"/>
              </a:rPr>
              <a:t>Security controls &amp; scans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5166360" cy="932688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8FAFC"/>
                </a:solidFill>
                <a:latin typeface="Aptos Display"/>
              </a:rPr>
              <a:t>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4069080"/>
            <a:ext cx="41148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testing-spec.md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4407408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A9B8CA"/>
                </a:solidFill>
                <a:latin typeface="Aptos"/>
              </a:rPr>
              <a:t>Test strategy &amp; acceptance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86200"/>
            <a:ext cx="5166360" cy="932688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4114800"/>
            <a:ext cx="384048" cy="384048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8FAFC"/>
                </a:solidFill>
                <a:latin typeface="Aptos Display"/>
              </a:rPr>
              <a:t>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4069080"/>
            <a:ext cx="411480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documentation-spec.md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407408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A9B8CA"/>
                </a:solidFill>
                <a:latin typeface="Aptos"/>
              </a:rPr>
              <a:t>Documentation &amp; operational guidance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49240"/>
            <a:ext cx="10927080" cy="548640"/>
          </a:xfrm>
          <a:prstGeom prst="roundRect">
            <a:avLst/>
          </a:prstGeom>
          <a:solidFill>
            <a:srgbClr val="1E193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504688"/>
            <a:ext cx="104698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8FAFC"/>
                </a:solidFill>
                <a:latin typeface="Aptos"/>
              </a:rPr>
              <a:t>Engineering decision: temporary in-memory storage keeps the Foundation solution simple, reproducible, and aligned to the current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6. DevSecOps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Every push validates code, security, containerization and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572768" cy="9144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481328"/>
            <a:ext cx="320040" cy="3200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01952"/>
            <a:ext cx="14264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>
                <a:solidFill>
                  <a:srgbClr val="F8FAFC"/>
                </a:solidFill>
                <a:latin typeface="Aptos"/>
              </a:rPr>
              <a:t>Python Tests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21408" y="1783080"/>
            <a:ext cx="237744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325880"/>
            <a:ext cx="1572768" cy="9144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0088" y="1481328"/>
            <a:ext cx="320040" cy="32004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901952"/>
            <a:ext cx="14264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>
                <a:solidFill>
                  <a:srgbClr val="F8FAFC"/>
                </a:solidFill>
                <a:latin typeface="Aptos"/>
              </a:rPr>
              <a:t>Gitleaks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95928" y="1783080"/>
            <a:ext cx="237744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79" y="1325880"/>
            <a:ext cx="1572768" cy="9144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4607" y="1481328"/>
            <a:ext cx="320040" cy="3200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1" y="1901952"/>
            <a:ext cx="14264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>
                <a:solidFill>
                  <a:srgbClr val="F8FAFC"/>
                </a:solidFill>
                <a:latin typeface="Aptos"/>
              </a:rPr>
              <a:t>Trivy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0447" y="1783080"/>
            <a:ext cx="237745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199" y="1325880"/>
            <a:ext cx="1572768" cy="9144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39127" y="1481328"/>
            <a:ext cx="320040" cy="32004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1" y="1901952"/>
            <a:ext cx="14264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>
                <a:solidFill>
                  <a:srgbClr val="F8FAFC"/>
                </a:solidFill>
                <a:latin typeface="Aptos"/>
              </a:rPr>
              <a:t>Checkov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44967" y="1783080"/>
            <a:ext cx="237744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46719" y="1325880"/>
            <a:ext cx="1572768" cy="9144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13647" y="1481328"/>
            <a:ext cx="320040" cy="3200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1901952"/>
            <a:ext cx="14264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>
                <a:solidFill>
                  <a:srgbClr val="F8FAFC"/>
                </a:solidFill>
                <a:latin typeface="Aptos"/>
              </a:rPr>
              <a:t>Docker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19488" y="1783080"/>
            <a:ext cx="237744" cy="0"/>
          </a:xfrm>
          <a:prstGeom prst="line">
            <a:avLst/>
          </a:prstGeom>
          <a:ln w="1905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21240" y="1325880"/>
            <a:ext cx="1572768" cy="9144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88167" y="1481328"/>
            <a:ext cx="320040" cy="32004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1901952"/>
            <a:ext cx="1426464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1">
                <a:solidFill>
                  <a:srgbClr val="F8FAFC"/>
                </a:solidFill>
                <a:latin typeface="Aptos"/>
              </a:rPr>
              <a:t>Terraform Validate</a:t>
            </a:r>
          </a:p>
        </p:txBody>
      </p:sp>
      <p:pic>
        <p:nvPicPr>
          <p:cNvPr id="28" name="Picture 27" descr="5d2b9ba1-8766-42cc-bf69-37cab8257c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43200"/>
            <a:ext cx="10195560" cy="33101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7. Security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Shift-left security validation in the CI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881360" cy="859536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554480"/>
            <a:ext cx="420624" cy="420624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1965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Gitleaks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81328"/>
            <a:ext cx="78181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9EFF6"/>
                </a:solidFill>
                <a:latin typeface="Aptos"/>
              </a:rPr>
              <a:t>Detect hard-coded secrets in repository history/code.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04872"/>
            <a:ext cx="10881360" cy="859536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606040"/>
            <a:ext cx="420624" cy="420624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60320"/>
            <a:ext cx="1965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Trivy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32888"/>
            <a:ext cx="78181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9EFF6"/>
                </a:solidFill>
                <a:latin typeface="Aptos"/>
              </a:rPr>
              <a:t>Scan the filesystem and dependencies for HIGH/CRITICAL vulnerabilities.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56432"/>
            <a:ext cx="10881360" cy="859536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3657600"/>
            <a:ext cx="420624" cy="420624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11879"/>
            <a:ext cx="1965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Checkov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584448"/>
            <a:ext cx="78181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9EFF6"/>
                </a:solidFill>
                <a:latin typeface="Aptos"/>
              </a:rPr>
              <a:t>Validate Terraform configuration against IaC security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07992"/>
            <a:ext cx="10881360" cy="859536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4709159"/>
            <a:ext cx="420624" cy="420624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 Display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63440"/>
            <a:ext cx="1965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Pytest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636007"/>
            <a:ext cx="78181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E9EFF6"/>
                </a:solidFill>
                <a:latin typeface="Aptos"/>
              </a:rPr>
              <a:t>Protect behavior with automated regression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5715000"/>
            <a:ext cx="8366760" cy="384048"/>
          </a:xfrm>
          <a:prstGeom prst="roundRect">
            <a:avLst/>
          </a:prstGeom>
          <a:solidFill>
            <a:srgbClr val="19364A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5815584"/>
            <a:ext cx="80924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1">
                <a:solidFill>
                  <a:srgbClr val="A9B8CA"/>
                </a:solidFill>
                <a:latin typeface="Aptos"/>
              </a:rPr>
              <a:t>Result: current GitHub Actions workflow is green across the implemented gates.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8. Containerization with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Consistent runtime packaging for local execution and CI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2148840" cy="100584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572768"/>
            <a:ext cx="365760" cy="36576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93392"/>
            <a:ext cx="1856231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8FAFC"/>
                </a:solidFill>
                <a:latin typeface="Courier New"/>
              </a:rPr>
              <a:t>python:3.12-slim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71215" y="1901952"/>
            <a:ext cx="402337" cy="0"/>
          </a:xfrm>
          <a:prstGeom prst="line">
            <a:avLst/>
          </a:prstGeom>
          <a:ln w="2032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92424" y="1417320"/>
            <a:ext cx="2148840" cy="100584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33672" y="1572768"/>
            <a:ext cx="365760" cy="36576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993392"/>
            <a:ext cx="1856231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8FAFC"/>
                </a:solidFill>
                <a:latin typeface="Courier New"/>
              </a:rPr>
              <a:t>pip install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50408" y="1901952"/>
            <a:ext cx="402336" cy="0"/>
          </a:xfrm>
          <a:prstGeom prst="line">
            <a:avLst/>
          </a:prstGeom>
          <a:ln w="2032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71616" y="1417320"/>
            <a:ext cx="2148840" cy="100584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12864" y="1572768"/>
            <a:ext cx="365760" cy="36576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93392"/>
            <a:ext cx="1856231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8FAFC"/>
                </a:solidFill>
                <a:latin typeface="Courier New"/>
              </a:rPr>
              <a:t>COPY src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1901952"/>
            <a:ext cx="402336" cy="0"/>
          </a:xfrm>
          <a:prstGeom prst="line">
            <a:avLst/>
          </a:prstGeom>
          <a:ln w="2032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50808" y="1417320"/>
            <a:ext cx="2148840" cy="100584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92056" y="1572768"/>
            <a:ext cx="365760" cy="36576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ptos Displa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1993392"/>
            <a:ext cx="1856231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8FAFC"/>
                </a:solidFill>
                <a:latin typeface="Courier New"/>
              </a:rPr>
              <a:t>uvicorn :8000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2880360"/>
            <a:ext cx="10104120" cy="2121408"/>
          </a:xfrm>
          <a:prstGeom prst="roundRect">
            <a:avLst/>
          </a:prstGeom>
          <a:solidFill>
            <a:srgbClr val="0C323A"/>
          </a:solidFill>
          <a:ln>
            <a:solidFill>
              <a:srgbClr val="14A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98448" y="3127248"/>
            <a:ext cx="20116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Validated locally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3648456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621024"/>
            <a:ext cx="88696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0" b="0">
                <a:solidFill>
                  <a:srgbClr val="E9EFF6"/>
                </a:solidFill>
                <a:latin typeface="Aptos"/>
              </a:rPr>
              <a:t>Docker image built as acme-retail-inventory:latest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4123944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096512"/>
            <a:ext cx="88696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0" b="0">
                <a:solidFill>
                  <a:srgbClr val="E9EFF6"/>
                </a:solidFill>
                <a:latin typeface="Aptos"/>
              </a:rPr>
              <a:t>Container exposed on host port 8000</a:t>
            </a:r>
          </a:p>
        </p:txBody>
      </p:sp>
      <p:sp>
        <p:nvSpPr>
          <p:cNvPr id="26" name="Oval 25"/>
          <p:cNvSpPr/>
          <p:nvPr/>
        </p:nvSpPr>
        <p:spPr>
          <a:xfrm>
            <a:off x="1371600" y="4599432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572000"/>
            <a:ext cx="88696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0" b="0">
                <a:solidFill>
                  <a:srgbClr val="E9EFF6"/>
                </a:solidFill>
                <a:latin typeface="Aptos"/>
              </a:rPr>
              <a:t>Swagger UI reachable from the browser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5074920"/>
            <a:ext cx="91440" cy="91440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5047488"/>
            <a:ext cx="88696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0" b="0">
                <a:solidFill>
                  <a:srgbClr val="E9EFF6"/>
                </a:solidFill>
                <a:latin typeface="Aptos"/>
              </a:rPr>
              <a:t>GET /health returned {"status":"healthy"}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50992"/>
            <a:ext cx="10972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0">
                <a:solidFill>
                  <a:srgbClr val="A9B8CA"/>
                </a:solidFill>
                <a:latin typeface="Aptos"/>
              </a:rPr>
              <a:t>Container image build is also validated automatically in GitHub Actions.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9. Infrastructure as Code with Terraform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Local IaC validation without requiring dedicated cloud resources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17320"/>
            <a:ext cx="438912" cy="43891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325880"/>
            <a:ext cx="27889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terraform 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1335024"/>
            <a:ext cx="7132320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Provider/plugins initialized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23544" y="1874519"/>
            <a:ext cx="0" cy="530353"/>
          </a:xfrm>
          <a:prstGeom prst="line">
            <a:avLst/>
          </a:prstGeom>
          <a:ln w="1651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2496312"/>
            <a:ext cx="438912" cy="43891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404872"/>
            <a:ext cx="27889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terraform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2414015"/>
            <a:ext cx="7132320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Configuration syntax and references valid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" y="2953512"/>
            <a:ext cx="0" cy="530351"/>
          </a:xfrm>
          <a:prstGeom prst="line">
            <a:avLst/>
          </a:prstGeom>
          <a:ln w="1651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13232" y="3575303"/>
            <a:ext cx="438912" cy="43891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483863"/>
            <a:ext cx="27889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terraform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3493007"/>
            <a:ext cx="7132320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Plan reviewed: 1 local resource to add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" y="4032503"/>
            <a:ext cx="0" cy="530352"/>
          </a:xfrm>
          <a:prstGeom prst="line">
            <a:avLst/>
          </a:prstGeom>
          <a:ln w="16510">
            <a:solidFill>
              <a:srgbClr val="A9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3232" y="4654296"/>
            <a:ext cx="438912" cy="43891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562856"/>
            <a:ext cx="27889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FAFC"/>
                </a:solidFill>
                <a:latin typeface="Courier New"/>
              </a:rPr>
              <a:t>terraform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4572000"/>
            <a:ext cx="7132320" cy="3383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Local infrastructure-info.txt generated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532120"/>
            <a:ext cx="10927080" cy="566928"/>
          </a:xfrm>
          <a:prstGeom prst="roundRect">
            <a:avLst/>
          </a:prstGeom>
          <a:solidFill>
            <a:srgbClr val="3A2C12"/>
          </a:solidFill>
          <a:ln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4698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>
                <a:solidFill>
                  <a:srgbClr val="F8FAFC"/>
                </a:solidFill>
                <a:latin typeface="Aptos"/>
              </a:rPr>
              <a:t>Current state: Terraform validates the Infrastructure-as-Code structure locally; cloud resources are not provisioned in this Foundation build.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8FAFC"/>
                </a:solidFill>
                <a:latin typeface="Aptos Display"/>
              </a:rPr>
              <a:t>10. Validation Results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8CA"/>
                </a:solidFill>
                <a:latin typeface="Aptos"/>
              </a:rPr>
              <a:t>What has been verified and packaged for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395728" cy="11430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22128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ptos"/>
              </a:rPr>
              <a:t>24/24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2128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A9B8CA"/>
                </a:solidFill>
                <a:latin typeface="Aptos"/>
              </a:rPr>
              <a:t>pytest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79" y="1325880"/>
            <a:ext cx="2395728" cy="11430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81328"/>
            <a:ext cx="22128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2128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A9B8CA"/>
                </a:solidFill>
                <a:latin typeface="Aptos"/>
              </a:rPr>
              <a:t>AI specification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1325880"/>
            <a:ext cx="73152" cy="11430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395728" cy="11430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22128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65960"/>
            <a:ext cx="22128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A9B8CA"/>
                </a:solidFill>
                <a:latin typeface="Aptos"/>
              </a:rPr>
              <a:t>CI validation jobs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73152" cy="1143000"/>
          </a:xfrm>
          <a:prstGeom prst="rect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19" y="1325880"/>
            <a:ext cx="2395728" cy="114300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1481328"/>
            <a:ext cx="22128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1965960"/>
            <a:ext cx="22128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A9B8CA"/>
                </a:solidFill>
                <a:latin typeface="Aptos"/>
              </a:rPr>
              <a:t>Cloud resources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1325880"/>
            <a:ext cx="73152" cy="11430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8036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Repository deliverables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3383279"/>
            <a:ext cx="91440" cy="914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355848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README.md and architecture documentation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3858768"/>
            <a:ext cx="91440" cy="914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831335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ai-specifications/ (six .md files)</a:t>
            </a:r>
          </a:p>
        </p:txBody>
      </p:sp>
      <p:sp>
        <p:nvSpPr>
          <p:cNvPr id="26" name="Oval 25"/>
          <p:cNvSpPr/>
          <p:nvPr/>
        </p:nvSpPr>
        <p:spPr>
          <a:xfrm>
            <a:off x="713232" y="4334255"/>
            <a:ext cx="91440" cy="914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306823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app/ with FastAPI source, models and tests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" y="4809743"/>
            <a:ext cx="91440" cy="914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782311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infrastructure/ with Terraform configuration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713232" y="5285231"/>
            <a:ext cx="91440" cy="914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257799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.github/workflows/ci.yml</a:t>
            </a:r>
          </a:p>
        </p:txBody>
      </p:sp>
      <p:sp>
        <p:nvSpPr>
          <p:cNvPr id="32" name="Oval 31"/>
          <p:cNvSpPr/>
          <p:nvPr/>
        </p:nvSpPr>
        <p:spPr>
          <a:xfrm>
            <a:off x="713232" y="5760719"/>
            <a:ext cx="91440" cy="91440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733287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engineering-decisions/ and presentation/ folders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880360"/>
            <a:ext cx="4754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FAFC"/>
                </a:solidFill>
                <a:latin typeface="Aptos"/>
              </a:rPr>
              <a:t>Acceptance &amp; demonstration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144768" y="3383279"/>
            <a:ext cx="91440" cy="9144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355848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Local FastAPI + Swagger validation</a:t>
            </a:r>
          </a:p>
        </p:txBody>
      </p:sp>
      <p:sp>
        <p:nvSpPr>
          <p:cNvPr id="37" name="Oval 36"/>
          <p:cNvSpPr/>
          <p:nvPr/>
        </p:nvSpPr>
        <p:spPr>
          <a:xfrm>
            <a:off x="6144768" y="3858768"/>
            <a:ext cx="91440" cy="9144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3831335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Docker runtime validation</a:t>
            </a:r>
          </a:p>
        </p:txBody>
      </p:sp>
      <p:sp>
        <p:nvSpPr>
          <p:cNvPr id="39" name="Oval 38"/>
          <p:cNvSpPr/>
          <p:nvPr/>
        </p:nvSpPr>
        <p:spPr>
          <a:xfrm>
            <a:off x="6144768" y="4334255"/>
            <a:ext cx="91440" cy="9144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4306823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Terraform init / validate / plan / apply</a:t>
            </a:r>
          </a:p>
        </p:txBody>
      </p:sp>
      <p:sp>
        <p:nvSpPr>
          <p:cNvPr id="41" name="Oval 40"/>
          <p:cNvSpPr/>
          <p:nvPr/>
        </p:nvSpPr>
        <p:spPr>
          <a:xfrm>
            <a:off x="6144768" y="4809743"/>
            <a:ext cx="91440" cy="91440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782311"/>
            <a:ext cx="5074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E9EFF6"/>
                </a:solidFill>
                <a:latin typeface="Aptos"/>
              </a:rPr>
              <a:t>CI tests + security scans + Docker build + Terraform 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8FAFC"/>
                </a:solidFill>
                <a:latin typeface="Aptos Display"/>
              </a:rPr>
              <a:t>11. Final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61872"/>
            <a:ext cx="1014984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A696"/>
                </a:solidFill>
                <a:latin typeface="Aptos"/>
              </a:rPr>
              <a:t>A secure, automated and reproducible delivery workflow for the Acme Retail 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423160" cy="150876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404872"/>
            <a:ext cx="438912" cy="438912"/>
          </a:xfrm>
          <a:prstGeom prst="ellipse">
            <a:avLst/>
          </a:prstGeom>
          <a:solidFill>
            <a:srgbClr val="2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2057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Aptos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46120"/>
            <a:ext cx="2084831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" b="0">
                <a:solidFill>
                  <a:srgbClr val="E9EFF6"/>
                </a:solidFill>
                <a:latin typeface="Aptos"/>
              </a:rPr>
              <a:t>FastAPI inventory APIs
CRUD + stock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2" y="2240280"/>
            <a:ext cx="2423160" cy="150876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2404872"/>
            <a:ext cx="438912" cy="438912"/>
          </a:xfrm>
          <a:prstGeom prst="ellipse">
            <a:avLst/>
          </a:prstGeom>
          <a:solidFill>
            <a:srgbClr val="14A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926080"/>
            <a:ext cx="2057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Aptos"/>
              </a:rP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246120"/>
            <a:ext cx="2084831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" b="0">
                <a:solidFill>
                  <a:srgbClr val="E9EFF6"/>
                </a:solidFill>
                <a:latin typeface="Aptos"/>
              </a:rPr>
              <a:t>GitHub Actions
repeatable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9944" y="2240280"/>
            <a:ext cx="2423160" cy="150876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70064" y="2404872"/>
            <a:ext cx="438912" cy="438912"/>
          </a:xfrm>
          <a:prstGeom prst="ellipse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2926080"/>
            <a:ext cx="2057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Aptos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246120"/>
            <a:ext cx="2084831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" b="0">
                <a:solidFill>
                  <a:srgbClr val="E9EFF6"/>
                </a:solidFill>
                <a:latin typeface="Aptos"/>
              </a:rPr>
              <a:t>Gitleaks • Trivy • Checkov
shift-left controls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2240280"/>
            <a:ext cx="2423160" cy="1508760"/>
          </a:xfrm>
          <a:prstGeom prst="roundRect">
            <a:avLst/>
          </a:prstGeom>
          <a:solidFill>
            <a:srgbClr val="102741"/>
          </a:solidFill>
          <a:ln>
            <a:solidFill>
              <a:srgbClr val="26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86416" y="2404872"/>
            <a:ext cx="438912" cy="438912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2926080"/>
            <a:ext cx="205740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Aptos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3246120"/>
            <a:ext cx="2084831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90" b="0">
                <a:solidFill>
                  <a:srgbClr val="E9EFF6"/>
                </a:solidFill>
                <a:latin typeface="Aptos"/>
              </a:rPr>
              <a:t>Docker + Terraform
local reproducibility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160520"/>
            <a:ext cx="9784080" cy="1051560"/>
          </a:xfrm>
          <a:prstGeom prst="roundRect">
            <a:avLst/>
          </a:prstGeom>
          <a:solidFill>
            <a:srgbClr val="171F3D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4752" y="4370832"/>
            <a:ext cx="21488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Aptos"/>
              </a:rPr>
              <a:t>Next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43400"/>
            <a:ext cx="713232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9EFF6"/>
                </a:solidFill>
                <a:latin typeface="Aptos"/>
              </a:rPr>
              <a:t>Cloud deployment can be added later; this Foundation submission is intentionally validated without dedicated cloud resources.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3327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Aptos"/>
              </a:rPr>
              <a:t>Thank you  • 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Group 17  •  Foundation Capstone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9B8C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